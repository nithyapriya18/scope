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319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73B63"/>
          </a:solidFill>
          <a:ln w="12700">
            <a:solidFill>
              <a:srgbClr val="173B6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51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B63"/>
                </a:solidFill>
              </a:rPr>
              <a:t>PMR Proposal Master Template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3232" y="149047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D7888"/>
                </a:solidFill>
              </a:rPr>
              <a:t>Executive-ready, sales-ready, scope-led proposal deck for client proposals generated through SCOPE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909560" y="9144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3880" y="1170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08A86"/>
                </a:solidFill>
              </a:rPr>
              <a:t>Use case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08A86"/>
                </a:solidFill>
              </a:rPr>
              <a:t>Proposal generation from SCOPE baseline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25856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What this template is built to 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459736"/>
            <a:ext cx="3154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Create a clear client story, a locked scope baseline, and a defensible commercial ask.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70832" y="214884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2258568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How to use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7136" y="2459736"/>
            <a:ext cx="3154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Use Slides 2–11 as the client-facing path. Keep SCOPE build guidance in the appendix.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28432" y="214884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74736" y="2258568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What it should feel like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74736" y="2459736"/>
            <a:ext cx="2880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Easy to approve, easy to defend commercially, and easy to translate into downstream PMR delivery.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9593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Business-development rule: </a:t>
            </a:r>
            <a:r>
              <a:rPr lang="en-US" sz="1025" dirty="0">
                <a:solidFill>
                  <a:srgbClr val="2C3440"/>
                </a:solidFill>
              </a:rPr>
              <a:t>Answer three questions quickly: what decision is at stake, why this design is the right response, and what the client is being asked to approve now.</a:t>
            </a:r>
            <a:endParaRPr lang="en-US" sz="1025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6908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Executive pacing: </a:t>
            </a:r>
            <a:r>
              <a:rPr lang="en-US" sz="1025" dirty="0">
                <a:solidFill>
                  <a:srgbClr val="2C3440"/>
                </a:solidFill>
              </a:rPr>
              <a:t>Lead with the decision need and recommended response. Include operating detail only where it strengthens trust, feasibility, or commercial clarity.</a:t>
            </a:r>
            <a:endParaRPr lang="en-US" sz="1025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4223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Control principle: </a:t>
            </a:r>
            <a:r>
              <a:rPr lang="en-US" sz="1025" dirty="0">
                <a:solidFill>
                  <a:srgbClr val="2C3440"/>
                </a:solidFill>
              </a:rPr>
              <a:t>Keep study type, audience, markets, wave model, deliverables, assumptions, and commercials explicit. Do not overload the proposal with delivery-SOP detail.</a:t>
            </a:r>
            <a:endParaRPr lang="en-US" sz="1025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615391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SCOPE integration: </a:t>
            </a:r>
            <a:r>
              <a:rPr lang="en-US" sz="1025" dirty="0">
                <a:solidFill>
                  <a:srgbClr val="2C3440"/>
                </a:solidFill>
              </a:rPr>
              <a:t>Appendix A lists the pinned inputs SCOPE should confirm before external release.</a:t>
            </a:r>
            <a:endParaRPr lang="en-US" sz="1025" dirty="0"/>
          </a:p>
        </p:txBody>
      </p:sp>
      <p:sp>
        <p:nvSpPr>
          <p:cNvPr id="23" name="Text 21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Use this page as the one-slide commercial brief. It should make the proposal easy to understand in under a minute.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1682496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Client challenge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88366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business issue, market event, or performance gap driving the work.]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199632" y="1572768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682496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Decision to support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45936" y="188366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exact business decision, action, or investment the study must inform.]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" y="2788920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Recommended PMR response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" y="299008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[Summarize the study type, method, audience, geography, and wave logic in one clear sentence.]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199632" y="267919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5936" y="2788920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Business value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45936" y="299008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the client will be able to do differently after the work.]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593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Drafting line: </a:t>
            </a:r>
            <a:r>
              <a:rPr lang="en-US" sz="1025" dirty="0">
                <a:solidFill>
                  <a:srgbClr val="2C3440"/>
                </a:solidFill>
              </a:rPr>
              <a:t>[Client name] needs [decision or evidence] in order to [business action]. We recommend [study type / method / audiences / markets] to deliver [outputs] within [timeline].</a:t>
            </a:r>
            <a:endParaRPr lang="en-US" sz="1025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47218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2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 field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outputs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[Report / workshop / dashboard / data / tracker outputs.]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[Headline timing and the key dependency that could move it.]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recommendation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[Preferred option, material pass-throughs, and fee validity.]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ask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the client is being asked to approve now.]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Client challenge and decision need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Translate the brief into a sharp business problem statement before describing method.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170992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Current situation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91109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is happening in the market, brand, portfolio, or customer journey?]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474720" y="1600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170992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Why now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191109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launch, policy change, competitor move, or performance issue makes this urgent?]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47104" y="1709928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Business challenge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47104" y="1911096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uncertainty or decision gap that must be resolved.]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144000" y="1600200"/>
            <a:ext cx="24963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Risk of inaction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90304" y="1911096"/>
            <a:ext cx="22219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happens if the client does not generate the evidence now?]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Writing rule: </a:t>
            </a:r>
            <a:r>
              <a:rPr lang="en-US" sz="1025" dirty="0">
                <a:solidFill>
                  <a:srgbClr val="2C3440"/>
                </a:solidFill>
              </a:rPr>
              <a:t>Keep this section in plain business language. The client should understand the stakes, the decision path, and the cost of delay before they read any technical detail.</a:t>
            </a:r>
            <a:endParaRPr lang="en-US" sz="1025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" y="3785616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Action path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" y="398678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the client intends to do differently once the evidence is available.]</a:t>
            </a:r>
            <a:endParaRPr lang="en-US" sz="106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28032"/>
          <a:ext cx="11091672" cy="1325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decision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client needs to decide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the study must provide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decision.]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evidence needed.]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2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decision.]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evidence needed.]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3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[Optional.]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[Optional.]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Recommended solution and study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This is where the proposal becomes persuasive: not just what will be done, but why this is the right response.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4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140817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 need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Recommended response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 created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[Client need 1]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workstream or design choice addresses it?]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the client gains.]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[Client need 2]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workstream or design choice addresses it?]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the client gains.]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[Client need 3]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[Optional.]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[Optional.]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310128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" y="3419856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Why this design fits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4944" y="36210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[Explain why this is the right balance of insight depth, speed, feasibility, and decision usefulness.]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4315968" y="3310128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62272" y="3419856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What the client will know afterwards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462272" y="362102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decision-ready outcomes the client will have.]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8138160" y="3310128"/>
            <a:ext cx="35021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84464" y="341985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Why a narrower option is weaker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84464" y="3621024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[Explain what would be lost if scope is reduced too far.]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48640" y="470916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48280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Success criteria: </a:t>
            </a:r>
            <a:r>
              <a:rPr lang="en-US" sz="1025" dirty="0">
                <a:solidFill>
                  <a:srgbClr val="2C3440"/>
                </a:solidFill>
              </a:rPr>
              <a:t>[State how usefulness will be judged: precision achieved, stakeholder usability, decision readiness, or directional learning.]</a:t>
            </a:r>
            <a:endParaRPr lang="en-US" sz="1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Scope 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This is the contract backbone. Keep the approved baseline explicit before design or fieldwork starts.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5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dimension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wording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study type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[Tracker / U&amp;A / segmentation / concept test / pricing / patient journey / ad hoc / other.]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 family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[Quant / Qual / Hybrid / Mixed-mode.]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Audience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[HCP / patient / caregiver / payer / hospital / consumer / other.]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Geographic scope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[Countries, regions, market clusters, and languages.]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Timing model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[One-time / phased / wave-based / ongoing.]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Deliverables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[Report / dashboard / workshop / dataset / other.]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boundary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is priced into the current baseline and what is not.]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24528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4944" y="4334256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In scope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4944" y="45354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[List the included workstreams, markets, audiences, and deliverables.]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4315968" y="4224528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62272" y="4334256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Out of scope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462272" y="45354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[List excluded items or items available only through change order.]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8083296" y="4224528"/>
            <a:ext cx="35570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0" y="4334256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Future option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0" y="4535424"/>
            <a:ext cx="3282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[List optional future work that can be activated later.]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48640" y="5422392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FF6E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5541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Scope clause: </a:t>
            </a:r>
            <a:r>
              <a:rPr lang="en-US" sz="1025" dirty="0">
                <a:solidFill>
                  <a:srgbClr val="2C3440"/>
                </a:solidFill>
              </a:rPr>
              <a:t>The approved baseline includes [deliverables / waves / review cycles / compliance conditions]. Any material change to countries, audiences, sample targets, deliverables, or timing assumptions should trigger formal change control.</a:t>
            </a:r>
            <a:endParaRPr lang="en-US" sz="1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Research design, sample, and field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Describe the work as a client-facing design and delivery story rather than an internal workflow.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5998464" cy="621792"/>
          </a:xfrm>
          <a:prstGeom prst="roundRect">
            <a:avLst>
              <a:gd name="adj" fmla="val 8824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011680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Phase 1: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212848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[Kickoff, requirements alignment, draft instruments, stimulus review, localization plan.]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749808" y="2670048"/>
            <a:ext cx="5998464" cy="621792"/>
          </a:xfrm>
          <a:prstGeom prst="roundRect">
            <a:avLst>
              <a:gd name="adj" fmla="val 8824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779776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Phase 2: Execute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2980944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[Recruitment, field launch, live monitoring, interventions, and issue handling.]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749808" y="3438144"/>
            <a:ext cx="5998464" cy="621792"/>
          </a:xfrm>
          <a:prstGeom prst="roundRect">
            <a:avLst>
              <a:gd name="adj" fmla="val 8824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547872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Phase 3: Analyze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374904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[QC, coding, weighting / normalization, analysis, and insight generation.]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749808" y="4206240"/>
            <a:ext cx="5998464" cy="621792"/>
          </a:xfrm>
          <a:prstGeom prst="roundRect">
            <a:avLst>
              <a:gd name="adj" fmla="val 8824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315968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Phase 4: Deliver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6112" y="4517136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[Report drafting, reviews, final release, workshops, and optional dashboard handoff.]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7205472" y="1600200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170992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Source of supply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51776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[Panel / recruiter / internal list / vendor / hybrid.]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205472" y="2560320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51776" y="267004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Incidence assumptions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51776" y="287121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assumptions that underpin the sample plan.]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205472" y="3520440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51776" y="363016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Release-wave logic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51776" y="383133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[If relevant, explain staged release and reserves.]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205472" y="4480560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51776" y="4590288"/>
            <a:ext cx="4178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Back-up plan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51776" y="479145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happens if incidence or speed is lower than expected.]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6509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Proposal detail rule: </a:t>
            </a:r>
            <a:r>
              <a:rPr lang="en-US" sz="1025" dirty="0">
                <a:solidFill>
                  <a:srgbClr val="2C3440"/>
                </a:solidFill>
              </a:rPr>
              <a:t>Include only the operational detail that materially affects feasibility, timing, risk, or commercials. Keep the deck senior and decision-led.</a:t>
            </a:r>
            <a:endParaRPr lang="en-US" sz="1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Deliverables, governance, and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Show the client exactly what they receive and why the delivery model is easy to trust.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198424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 prompt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deliverables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report, workshop, dashboard, data, or tracker outputs.]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 launch control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must be approved before launch.]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 monitoring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is tracked while field is live and when intervention triggers fire.]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release control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review ownership, release condition, and final approval path.]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Governance cadence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the meeting rhythm, owner roles, and escalation path.]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7360920" y="1600200"/>
            <a:ext cx="4279392" cy="960120"/>
          </a:xfrm>
          <a:prstGeom prst="roundRect">
            <a:avLst>
              <a:gd name="adj" fmla="val 5714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07224" y="17099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Launch control 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07224" y="1911096"/>
            <a:ext cx="4005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the pre-launch checks or approvals that create confidence.]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7360920" y="2724912"/>
            <a:ext cx="42793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07224" y="2834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Quality line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07224" y="3035808"/>
            <a:ext cx="4005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how quality acceptance and issue resolution are controlled.]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7360920" y="3849624"/>
            <a:ext cx="4279392" cy="960120"/>
          </a:xfrm>
          <a:prstGeom prst="roundRect">
            <a:avLst>
              <a:gd name="adj" fmla="val 5714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07224" y="39593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Release line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07224" y="4160520"/>
            <a:ext cx="4005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how final output approval works and who signs it off.]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48640" y="5193792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53126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Confidence rule: </a:t>
            </a:r>
            <a:r>
              <a:rPr lang="en-US" sz="1025" dirty="0">
                <a:solidFill>
                  <a:srgbClr val="2C3440"/>
                </a:solidFill>
              </a:rPr>
              <a:t>Proposals become more credible when launch controls, live monitoring, review ownership, release conditions, and final approval paths are visible before fieldwork begins.</a:t>
            </a:r>
            <a:endParaRPr lang="en-US" sz="1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Timeline, milestones, and client inputs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Separate supplier-controlled timing from client approvals and dependencies.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00800" cy="13258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client must confirm or provide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 proposal approval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the client must confirm before award or kickoff.]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 field launch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the client must approve or provide.]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 final release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review or sign-off is required.]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645920"/>
            <a:ext cx="44256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6"/>
          <p:cNvSpPr/>
          <p:nvPr/>
        </p:nvSpPr>
        <p:spPr>
          <a:xfrm>
            <a:off x="7370064" y="1755648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Illustrative timeline block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70064" y="1956816"/>
            <a:ext cx="4151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[Insert the key phases and the expected timing range. Show dependencies clearly rather than over-promising fixed dates.]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7223760" y="2880360"/>
            <a:ext cx="44256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70064" y="2990088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Dependency block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70064" y="3191256"/>
            <a:ext cx="4151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is dependent on client approvals, materials, lists, or stimulus readiness.]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7223760" y="4114800"/>
            <a:ext cx="4425696" cy="1051560"/>
          </a:xfrm>
          <a:prstGeom prst="roundRect">
            <a:avLst>
              <a:gd name="adj" fmla="val 5217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70064" y="4224528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Supplier-controlled block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70064" y="4425696"/>
            <a:ext cx="41513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the delivery team controls directly once approvals and inputs are available.]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56052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Timing rule: </a:t>
            </a:r>
            <a:r>
              <a:rPr lang="en-US" sz="1025" dirty="0">
                <a:solidFill>
                  <a:srgbClr val="2C3440"/>
                </a:solidFill>
              </a:rPr>
              <a:t>Where dates depend on client approvals, state that dependency explicitly rather than presenting those dates as supplier-controlled.</a:t>
            </a:r>
            <a:endParaRPr lang="en-US" sz="1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Commercial architecture and optioning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Keep the commercial picture simple, defensible, and easy to choose from.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170992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Option A — Lean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9110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the client gets and what is not included.]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407408" y="160020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1709928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Option B — Recommended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3712" y="19110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the client gets and why it is preferred.]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266176" y="1600200"/>
            <a:ext cx="337413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709928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Option C — Enhanced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1911096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[What extra insight, precision, or coverage this unlocks.]</a:t>
            </a:r>
            <a:endParaRPr lang="en-US" sz="106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7315200" cy="18562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area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 prompt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Fee validity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how long fees remain valid.]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Billing / payment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milestones and payment terms.]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Tax / FX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tax, FX, and market-specific fee treatment.]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Travel / expenses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pass-through treatment and pre-approval rule.]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Change-order pricing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how material scope changes will be priced.]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38160" y="301752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FF6E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84464" y="31272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46B00"/>
                </a:solidFill>
              </a:rPr>
              <a:t>Commercial note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84464" y="3328416"/>
            <a:ext cx="32278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[Show a preferred option unless there is a strong reason not to.]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138160" y="4251960"/>
            <a:ext cx="3502152" cy="868680"/>
          </a:xfrm>
          <a:prstGeom prst="roundRect">
            <a:avLst>
              <a:gd name="adj" fmla="val 6316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84464" y="43616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Decision shortcut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84464" y="4562856"/>
            <a:ext cx="32278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Executive audiences make faster decisions when the recommendation is visible.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052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Commercial rule: </a:t>
            </a:r>
            <a:r>
              <a:rPr lang="en-US" sz="1025" dirty="0">
                <a:solidFill>
                  <a:srgbClr val="2C3440"/>
                </a:solidFill>
              </a:rPr>
              <a:t>Keep the commercial structure understandable in one read. The client should know what is included, what is variable, and what drives change in price.</a:t>
            </a:r>
            <a:endParaRPr lang="en-US" sz="1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Risks, dependencies, and change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Protect the baseline from silent drift and demonstrate disciplined delivery thinking.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858000" cy="17282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area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Potential issue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Recruitment / feasibility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could go wrong?]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is the mitigation plan?]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Timing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could go wrong?]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is the mitigation plan?]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 / approval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could go wrong?]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is the mitigation plan?]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drift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could go wrong?]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[What is the mitigation plan?]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600200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81544" y="17099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Scope trigger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81544" y="191109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[Countries, languages, audiences, sample targets, or deliverables change.]</a:t>
            </a:r>
            <a:endParaRPr lang="en-US" sz="1060" dirty="0"/>
          </a:p>
        </p:txBody>
      </p:sp>
      <p:sp>
        <p:nvSpPr>
          <p:cNvPr id="7" name="Shape 8"/>
          <p:cNvSpPr/>
          <p:nvPr/>
        </p:nvSpPr>
        <p:spPr>
          <a:xfrm>
            <a:off x="7635240" y="2651760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81544" y="27614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Operational trigger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81544" y="296265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[Method, LOI, stimulus rounds, or delivery schedule change.]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7635240" y="3703320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81544" y="3813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Client review trigger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81544" y="4014216"/>
            <a:ext cx="3730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[Extended reviews, delayed approvals, or release changes.]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FF6E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51023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Required treatment: </a:t>
            </a:r>
            <a:r>
              <a:rPr lang="en-US" sz="1025" dirty="0">
                <a:solidFill>
                  <a:srgbClr val="2C3440"/>
                </a:solidFill>
              </a:rPr>
              <a:t>State the timeline impact, commercial impact, and whether a formal change order is required.</a:t>
            </a:r>
            <a:endParaRPr lang="en-US" sz="1025" dirty="0"/>
          </a:p>
        </p:txBody>
      </p:sp>
      <p:sp>
        <p:nvSpPr>
          <p:cNvPr id="19" name="Shape 16"/>
          <p:cNvSpPr/>
          <p:nvPr/>
        </p:nvSpPr>
        <p:spPr>
          <a:xfrm>
            <a:off x="548640" y="5641848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5760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Suggested clause: </a:t>
            </a:r>
            <a:r>
              <a:rPr lang="en-US" sz="1025" dirty="0">
                <a:solidFill>
                  <a:srgbClr val="2C3440"/>
                </a:solidFill>
              </a:rPr>
              <a:t>Any material change to approved countries, languages, audiences, incidence assumptions, sample targets, method, LOI, stimulus rounds, review rounds, or deliverable format may require controlled re-scope, timeline update, and fee revision.</a:t>
            </a:r>
            <a:endParaRPr lang="en-US" sz="1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CLIENT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Credentials, decision ask, and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Close the confidence gap by showing why this team, this method, and this governance model are credible for the client.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11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7178040" cy="192481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Proof area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to include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Relevant experience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[Describe the closest analogous project.]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what makes it relevant.]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 expertise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[Describe strength in the proposed method.]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how it reduces risk or improves insight.]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Geography / audience strength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[Describe local or audience-specific strength.]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why it matters for feasibility or interpretation.]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strength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[Describe governance, quality, or compliance strength.]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[State why it improves execution confidence.]</a:t>
                      </a:r>
                      <a:endParaRPr lang="en-US" sz="9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955280" y="1609344"/>
            <a:ext cx="3685032" cy="850392"/>
          </a:xfrm>
          <a:prstGeom prst="roundRect">
            <a:avLst>
              <a:gd name="adj" fmla="val 6452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01584" y="171907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8A86"/>
                </a:solidFill>
              </a:rPr>
              <a:t>Decision ask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101584" y="1920240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the client is being asked to approve now.]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7955280" y="2633472"/>
            <a:ext cx="3685032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9"/>
          <p:cNvSpPr/>
          <p:nvPr/>
        </p:nvSpPr>
        <p:spPr>
          <a:xfrm>
            <a:off x="8101584" y="27432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Immediate next step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101584" y="2944368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[State what the client needs to provide or confirm next.]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7955280" y="3657600"/>
            <a:ext cx="3685032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01584" y="37673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Contracting path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01584" y="3968496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[Proposal / SoW / MSA / work-order relationship.]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7955280" y="4681728"/>
            <a:ext cx="368503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905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01584" y="47914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B63"/>
                </a:solidFill>
              </a:rPr>
              <a:t>Closing details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01584" y="4992624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2C3440"/>
                </a:solidFill>
              </a:rPr>
              <a:t>[Proposal validity, fee validity, commercial owner, proposal lead, and project lead.]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548640" y="5742432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586130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Suggested close: </a:t>
            </a:r>
            <a:r>
              <a:rPr lang="en-US" sz="1025" dirty="0">
                <a:solidFill>
                  <a:srgbClr val="2C3440"/>
                </a:solidFill>
              </a:rPr>
              <a:t>We welcome the opportunity to refine this scope with [client name] and align the final proposal, timeline, and commercials to the agreed baseline.</a:t>
            </a:r>
            <a:endParaRPr lang="en-US" sz="1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APPENDIX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420624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FDEBEE"/>
          </a:solidFill>
          <a:ln w="12700">
            <a:solidFill>
              <a:srgbClr val="F4C7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88168" y="466344"/>
            <a:ext cx="7863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33D53"/>
                </a:solidFill>
              </a:rPr>
              <a:t>INTERNAL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Appendix A. SCOPE proposal build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Use this page internally so SCOPE can generate a proposal without losing baseline control.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group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SCOPE fields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Populates proposal sections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Narrative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 challenge; decision to support; why now; risk of inaction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Executive summary; decision context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Study type; method family; objectives; outputs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Recommended solution; scope baseline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Audience &amp; geography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Audience profile; markets; languages; timing model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baseline; design / sample / field model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Delivery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 target; timeline assumptions; review rounds; release logic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Delivery, governance, and timing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 version; option ladder; pass-throughs; payment terms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architecture and optioning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Assumptions register; compliance constraints; approval path; change triggers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5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baseline; risks and change control</a:t>
                      </a:r>
                      <a:endParaRPr lang="en-US" sz="9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5196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3708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Baseline lock before issue: </a:t>
            </a:r>
            <a:r>
              <a:rPr lang="en-US" sz="1025" dirty="0">
                <a:solidFill>
                  <a:srgbClr val="2C3440"/>
                </a:solidFill>
              </a:rPr>
              <a:t>Pin the pricing version, assumptions register, approval path, and study overlays before release.</a:t>
            </a:r>
            <a:endParaRPr lang="en-US" sz="1025" dirty="0"/>
          </a:p>
        </p:txBody>
      </p:sp>
      <p:sp>
        <p:nvSpPr>
          <p:cNvPr id="12" name="Shape 9"/>
          <p:cNvSpPr/>
          <p:nvPr/>
        </p:nvSpPr>
        <p:spPr>
          <a:xfrm>
            <a:off x="548640" y="493776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10"/>
          <p:cNvSpPr/>
          <p:nvPr/>
        </p:nvSpPr>
        <p:spPr>
          <a:xfrm>
            <a:off x="713232" y="50566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No silent drift: </a:t>
            </a:r>
            <a:r>
              <a:rPr lang="en-US" sz="1025" dirty="0">
                <a:solidFill>
                  <a:srgbClr val="2C3440"/>
                </a:solidFill>
              </a:rPr>
              <a:t>If design, markets, sample, deliverables, or timing move after approval, open formal change control.</a:t>
            </a:r>
            <a:endParaRPr lang="en-US" sz="1025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57424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Release check: </a:t>
            </a:r>
            <a:r>
              <a:rPr lang="en-US" sz="1025" dirty="0">
                <a:solidFill>
                  <a:srgbClr val="2C3440"/>
                </a:solidFill>
              </a:rPr>
              <a:t>Confirm study type, audience, markets, wave model, deliverables, pricing, assumptions, and approval path before the proposal is issued.</a:t>
            </a:r>
            <a:endParaRPr lang="en-US" sz="1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8A86"/>
                </a:solidFill>
              </a:rPr>
              <a:t>APPENDIX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0378440" y="420624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FDEBEE"/>
          </a:solidFill>
          <a:ln w="12700">
            <a:solidFill>
              <a:srgbClr val="F4C7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88168" y="466344"/>
            <a:ext cx="7863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33D53"/>
                </a:solidFill>
              </a:rPr>
              <a:t>INTERNAL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B63"/>
                </a:solidFill>
              </a:rPr>
              <a:t>Appendix B. PMR operating model and handoff 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D7888"/>
                </a:solidFill>
              </a:rPr>
              <a:t>Use this only when the working team needs explicit visibility into how the proposal baseline maps into the PMR operating system.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30352" y="64008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D7888"/>
                </a:solidFill>
              </a:rPr>
              <a:t>PMR Proposal Template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384280" y="64008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D7888"/>
                </a:solidFill>
              </a:rPr>
              <a:t>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551176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Proposal element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Owning module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3B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stay controlled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baseline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baseline, assumptions, pricing, approvals, and change control.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Instrument / method design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CRAFT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Questionnaires, guides, stimuli, localization, and pilot evidence.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 and feasibility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Quota plan, source of supply, vendor allocation, and release waves.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Fieldwork execution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Launch controls, live monitoring, interventions, and closeout evidence.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Accepted inputs and release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/ REPORT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QC-approved inputs, release bundle, and evidence index.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reconciliation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Scope-to-bill logic, tax / FX evidence, disputes, and billing readiness.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Cross-cutting controls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SAFETY / INTELLIGENCE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44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 controls and risk / benchmark / recommendation workstreams.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6177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DF7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7365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Governance rule: </a:t>
            </a:r>
            <a:r>
              <a:rPr lang="en-US" sz="1025" dirty="0">
                <a:solidFill>
                  <a:srgbClr val="2C3440"/>
                </a:solidFill>
              </a:rPr>
              <a:t>Keep study profile overlays explicit and pinned once the baseline is approved. Use Approve / Hold / Revise consistently at visible decision points when an internal review is required.</a:t>
            </a:r>
            <a:endParaRPr lang="en-US" sz="1025" dirty="0"/>
          </a:p>
        </p:txBody>
      </p:sp>
      <p:sp>
        <p:nvSpPr>
          <p:cNvPr id="12" name="Shape 9"/>
          <p:cNvSpPr/>
          <p:nvPr/>
        </p:nvSpPr>
        <p:spPr>
          <a:xfrm>
            <a:off x="548640" y="5321808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EAF1F8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54406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5" b="1" dirty="0">
                <a:solidFill>
                  <a:srgbClr val="208A86"/>
                </a:solidFill>
              </a:rPr>
              <a:t>Positioning rule: </a:t>
            </a:r>
            <a:r>
              <a:rPr lang="en-US" sz="1025" dirty="0">
                <a:solidFill>
                  <a:srgbClr val="2C3440"/>
                </a:solidFill>
              </a:rPr>
              <a:t>Treat the proposal as the external expression of the BaselinePackage that downstream modules will read.</a:t>
            </a:r>
            <a:endParaRPr lang="en-US" sz="1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2555</Words>
  <Application>Microsoft Office PowerPoint</Application>
  <PresentationFormat>Widescreen</PresentationFormat>
  <Paragraphs>346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PMR Proposal Master Template — SCOPE Final</dc:title>
  <dc:subject>PMR Proposal PowerPoint Template for SCOPE</dc:subject>
  <dc:creator>OpenAI</dc:creator>
  <cp:lastModifiedBy>Tagfact13</cp:lastModifiedBy>
  <cp:revision>2</cp:revision>
  <dcterms:created xsi:type="dcterms:W3CDTF">2026-03-19T07:23:23Z</dcterms:created>
  <dcterms:modified xsi:type="dcterms:W3CDTF">2026-03-19T08:51:25Z</dcterms:modified>
</cp:coreProperties>
</file>